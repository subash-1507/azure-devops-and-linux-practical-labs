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Roboto-italic.fntdata"/><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slide" Target="slides/slide16.xml"/><Relationship Id="rId3" Type="http://schemas.openxmlformats.org/officeDocument/2006/relationships/presProps" Target="presProps.xml"/><Relationship Id="rId34" Type="http://schemas.openxmlformats.org/officeDocument/2006/relationships/customXml" Target="../customXml/item3.xml"/><Relationship Id="rId25" Type="http://schemas.openxmlformats.org/officeDocument/2006/relationships/font" Target="fonts/Roboto-bold.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customXml" Target="../customXml/item2.xml"/><Relationship Id="rId20" Type="http://schemas.openxmlformats.org/officeDocument/2006/relationships/slide" Target="slides/slide15.xml"/><Relationship Id="rId2" Type="http://schemas.openxmlformats.org/officeDocument/2006/relationships/viewProps" Target="viewProps.xml"/><Relationship Id="rId29" Type="http://schemas.openxmlformats.org/officeDocument/2006/relationships/font" Target="fonts/RobotoMono-bold.fntdata"/><Relationship Id="rId16" Type="http://schemas.openxmlformats.org/officeDocument/2006/relationships/slide" Target="slides/slide11.xml"/><Relationship Id="rId24" Type="http://schemas.openxmlformats.org/officeDocument/2006/relationships/font" Target="fonts/Roboto-regular.fntdata"/><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customXml" Target="../customXml/item1.xml"/><Relationship Id="rId23" Type="http://schemas.openxmlformats.org/officeDocument/2006/relationships/slide" Target="slides/slide18.xml"/><Relationship Id="rId28" Type="http://schemas.openxmlformats.org/officeDocument/2006/relationships/font" Target="fonts/RobotoMono-regular.fntdata"/><Relationship Id="rId5" Type="http://schemas.openxmlformats.org/officeDocument/2006/relationships/notesMaster" Target="notesMasters/notesMaster1.xml"/><Relationship Id="rId15" Type="http://schemas.openxmlformats.org/officeDocument/2006/relationships/slide" Target="slides/slide10.xml"/><Relationship Id="rId31" Type="http://schemas.openxmlformats.org/officeDocument/2006/relationships/font" Target="fonts/RobotoMono-boldItalic.fntdata"/><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font" Target="fonts/Roboto-boldItalic.fntdata"/><Relationship Id="rId30" Type="http://schemas.openxmlformats.org/officeDocument/2006/relationships/font" Target="fonts/RobotoMono-italic.fntdata"/><Relationship Id="rId14" Type="http://schemas.openxmlformats.org/officeDocument/2006/relationships/slide" Target="slides/slide9.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8e917742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8e917742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8e9177427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8e9177427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8e9177427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8e9177427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e9177427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8e9177427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8e9177427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8e9177427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8e9177427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8e9177427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e9177427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e9177427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e9177427c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8e9177427c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8e9177427c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8e9177427c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e9177427c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8e9177427c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8e9177427c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8e9177427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e9177427c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e9177427c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8e9177427c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8e9177427c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8e9177427c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8e9177427c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8e9177427c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8e9177427c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8e9177427c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8e9177427c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8e9177427c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8e9177427c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eveloper.hashicorp.com/terraform/tutorials/aws-get-started/install-cl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Tasks list</a:t>
            </a:r>
            <a:endParaRPr>
              <a:latin typeface="Times New Roman"/>
              <a:ea typeface="Times New Roman"/>
              <a:cs typeface="Times New Roman"/>
              <a:sym typeface="Times New Roman"/>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Pennywise solutions</a:t>
            </a:r>
            <a:endParaRPr/>
          </a:p>
        </p:txBody>
      </p:sp>
      <p:sp>
        <p:nvSpPr>
          <p:cNvPr id="87" name="Google Shape;87;p13"/>
          <p:cNvSpPr txBox="1"/>
          <p:nvPr/>
        </p:nvSpPr>
        <p:spPr>
          <a:xfrm>
            <a:off x="3761150" y="3455875"/>
            <a:ext cx="4982400" cy="9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0E0E3"/>
                </a:solidFill>
                <a:latin typeface="Georgia"/>
                <a:ea typeface="Georgia"/>
                <a:cs typeface="Georgia"/>
                <a:sym typeface="Georgia"/>
              </a:rPr>
              <a:t>Subash Chandra Bose.M</a:t>
            </a:r>
            <a:endParaRPr sz="1800">
              <a:solidFill>
                <a:srgbClr val="D0E0E3"/>
              </a:solidFill>
              <a:latin typeface="Georgia"/>
              <a:ea typeface="Georgia"/>
              <a:cs typeface="Georgia"/>
              <a:sym typeface="Georgia"/>
            </a:endParaRPr>
          </a:p>
          <a:p>
            <a:pPr indent="0" lvl="0" marL="0" rtl="0" algn="l">
              <a:spcBef>
                <a:spcPts val="0"/>
              </a:spcBef>
              <a:spcAft>
                <a:spcPts val="0"/>
              </a:spcAft>
              <a:buNone/>
            </a:pPr>
            <a:r>
              <a:rPr lang="en" sz="1800">
                <a:solidFill>
                  <a:srgbClr val="D0E0E3"/>
                </a:solidFill>
                <a:latin typeface="Georgia"/>
                <a:ea typeface="Georgia"/>
                <a:cs typeface="Georgia"/>
                <a:sym typeface="Georgia"/>
              </a:rPr>
              <a:t>Employee Id : D03912</a:t>
            </a:r>
            <a:endParaRPr sz="1800">
              <a:solidFill>
                <a:srgbClr val="D0E0E3"/>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Task-01</a:t>
            </a:r>
            <a:endParaRPr/>
          </a:p>
        </p:txBody>
      </p:sp>
      <p:sp>
        <p:nvSpPr>
          <p:cNvPr id="93" name="Google Shape;93;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To Create and work on Azure Entra, Create Users and group, manage Multifactor for the user account.</a:t>
            </a:r>
            <a:endParaRPr/>
          </a:p>
          <a:p>
            <a:pPr indent="0" lvl="0" marL="0" rtl="0" algn="l">
              <a:spcBef>
                <a:spcPts val="1200"/>
              </a:spcBef>
              <a:spcAft>
                <a:spcPts val="0"/>
              </a:spcAft>
              <a:buNone/>
            </a:pPr>
            <a:r>
              <a:rPr lang="en"/>
              <a:t>Azure Active Directory (Azure AD), "user" and "groups" are fundamental entities that play a crucial role in managing identity and access within Azure services.</a:t>
            </a:r>
            <a:endParaRPr/>
          </a:p>
          <a:p>
            <a:pPr indent="0" lvl="0" marL="0" rtl="0" algn="l">
              <a:spcBef>
                <a:spcPts val="1200"/>
              </a:spcBef>
              <a:spcAft>
                <a:spcPts val="0"/>
              </a:spcAft>
              <a:buNone/>
            </a:pPr>
            <a:r>
              <a:rPr lang="en"/>
              <a:t>User in Azure AD: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 user in Azure AD represents an individual who can sign in and access resources. This can include employees, customers, partners, or any other person who needs access to Azure services.</a:t>
            </a:r>
            <a:endParaRPr/>
          </a:p>
          <a:p>
            <a:pPr indent="0" lvl="0" marL="0" rtl="0" algn="l">
              <a:spcBef>
                <a:spcPts val="1200"/>
              </a:spcBef>
              <a:spcAft>
                <a:spcPts val="0"/>
              </a:spcAft>
              <a:buNone/>
            </a:pPr>
            <a:r>
              <a:rPr lang="en"/>
              <a:t>Users are typically associated with one or more identities, such as usernames and passwords, or they can use other authentication methods like multi-factor authentication (MFA), certificates, or federated identity providers.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Task-01</a:t>
            </a:r>
            <a:endParaRPr/>
          </a:p>
        </p:txBody>
      </p:sp>
      <p:sp>
        <p:nvSpPr>
          <p:cNvPr id="99" name="Google Shape;99;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Groups in Azure AD: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Groups are collections of users, devices, or other groups. They are used to simplify the management of permissions and access to resources.</a:t>
            </a:r>
            <a:endParaRPr/>
          </a:p>
          <a:p>
            <a:pPr indent="0" lvl="0" marL="0" rtl="0" algn="l">
              <a:spcBef>
                <a:spcPts val="1200"/>
              </a:spcBef>
              <a:spcAft>
                <a:spcPts val="0"/>
              </a:spcAft>
              <a:buNone/>
            </a:pPr>
            <a:r>
              <a:rPr lang="en"/>
              <a:t>Azure AD supports several types of groups, including:</a:t>
            </a:r>
            <a:endParaRPr/>
          </a:p>
          <a:p>
            <a:pPr indent="0" lvl="0" marL="0" rtl="0" algn="l">
              <a:spcBef>
                <a:spcPts val="1200"/>
              </a:spcBef>
              <a:spcAft>
                <a:spcPts val="0"/>
              </a:spcAft>
              <a:buNone/>
            </a:pPr>
            <a:r>
              <a:rPr lang="en"/>
              <a:t>Security Groups: Used for granting access to resources. Permissions can be assigned to security groups, and users added to these groups inherit those permissions.</a:t>
            </a:r>
            <a:endParaRPr/>
          </a:p>
          <a:p>
            <a:pPr indent="0" lvl="0" marL="0" rtl="0" algn="l">
              <a:spcBef>
                <a:spcPts val="1200"/>
              </a:spcBef>
              <a:spcAft>
                <a:spcPts val="0"/>
              </a:spcAft>
              <a:buNone/>
            </a:pPr>
            <a:r>
              <a:rPr lang="en"/>
              <a:t>Microsoft 365 Groups: Used for collaboration within Microsoft 365 services. This includes email distribution groups, shared mailboxes, and more.</a:t>
            </a:r>
            <a:endParaRPr/>
          </a:p>
          <a:p>
            <a:pPr indent="0" lvl="0" marL="0" rtl="0" algn="l">
              <a:spcBef>
                <a:spcPts val="1200"/>
              </a:spcBef>
              <a:spcAft>
                <a:spcPts val="0"/>
              </a:spcAft>
              <a:buNone/>
            </a:pPr>
            <a:r>
              <a:rPr lang="en"/>
              <a:t>Mail-Enabled Security Groups: Similar to security groups but also have an associated email address.</a:t>
            </a:r>
            <a:endParaRPr/>
          </a:p>
          <a:p>
            <a:pPr indent="0" lvl="0" marL="0" rtl="0" algn="l">
              <a:spcBef>
                <a:spcPts val="1200"/>
              </a:spcBef>
              <a:spcAft>
                <a:spcPts val="1200"/>
              </a:spcAft>
              <a:buNone/>
            </a:pPr>
            <a:r>
              <a:rPr lang="en"/>
              <a:t>Dynamic Groups: Membership is automatically managed based on rules defined by administrators.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Task-01 </a:t>
            </a:r>
            <a:endParaRPr/>
          </a:p>
        </p:txBody>
      </p:sp>
      <p:sp>
        <p:nvSpPr>
          <p:cNvPr id="105" name="Google Shape;105;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WORK:</a:t>
            </a:r>
            <a:endParaRPr/>
          </a:p>
        </p:txBody>
      </p:sp>
      <p:pic>
        <p:nvPicPr>
          <p:cNvPr id="106" name="Google Shape;106;p16"/>
          <p:cNvPicPr preferRelativeResize="0"/>
          <p:nvPr/>
        </p:nvPicPr>
        <p:blipFill>
          <a:blip r:embed="rId3">
            <a:alphaModFix/>
          </a:blip>
          <a:stretch>
            <a:fillRect/>
          </a:stretch>
        </p:blipFill>
        <p:spPr>
          <a:xfrm>
            <a:off x="1301475" y="1417638"/>
            <a:ext cx="5943600" cy="2886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Task-01</a:t>
            </a:r>
            <a:endParaRPr/>
          </a:p>
        </p:txBody>
      </p:sp>
      <p:sp>
        <p:nvSpPr>
          <p:cNvPr id="112" name="Google Shape;112;p17"/>
          <p:cNvSpPr txBox="1"/>
          <p:nvPr>
            <p:ph idx="1" type="body"/>
          </p:nvPr>
        </p:nvSpPr>
        <p:spPr>
          <a:xfrm>
            <a:off x="957575" y="1053325"/>
            <a:ext cx="7378800" cy="342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WORK: </a:t>
            </a:r>
            <a:endParaRPr/>
          </a:p>
        </p:txBody>
      </p:sp>
      <p:pic>
        <p:nvPicPr>
          <p:cNvPr id="113" name="Google Shape;113;p17"/>
          <p:cNvPicPr preferRelativeResize="0"/>
          <p:nvPr/>
        </p:nvPicPr>
        <p:blipFill>
          <a:blip r:embed="rId3">
            <a:alphaModFix/>
          </a:blip>
          <a:stretch>
            <a:fillRect/>
          </a:stretch>
        </p:blipFill>
        <p:spPr>
          <a:xfrm>
            <a:off x="2012800" y="1185863"/>
            <a:ext cx="5943600" cy="2771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TASK-02</a:t>
            </a:r>
            <a:endParaRPr/>
          </a:p>
        </p:txBody>
      </p:sp>
      <p:sp>
        <p:nvSpPr>
          <p:cNvPr id="119" name="Google Shape;119;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Create a storage account on Azure and create a blob storage upload some media and apply the retention period for the blob storage.</a:t>
            </a:r>
            <a:endParaRPr/>
          </a:p>
          <a:p>
            <a:pPr indent="0" lvl="0" marL="0" rtl="0" algn="l">
              <a:spcBef>
                <a:spcPts val="1200"/>
              </a:spcBef>
              <a:spcAft>
                <a:spcPts val="0"/>
              </a:spcAft>
              <a:buClr>
                <a:schemeClr val="dk1"/>
              </a:buClr>
              <a:buSzPts val="1100"/>
              <a:buFont typeface="Arial"/>
              <a:buNone/>
            </a:pPr>
            <a:r>
              <a:rPr lang="en"/>
              <a:t>In Microsoft Azure, a Storage Account is a fundamental Azure resource that provides scalable and secure cloud-based storage. It serves as the foundation for storing and managing data used by various Azure services. Azure Storage supports different types of data services, including blob (object) storage, file storage, table storage, and queue storage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TASK-02</a:t>
            </a:r>
            <a:endParaRPr/>
          </a:p>
        </p:txBody>
      </p:sp>
      <p:sp>
        <p:nvSpPr>
          <p:cNvPr id="125" name="Google Shape;125;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lang="en"/>
              <a:t>Types of Storage:</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Blob Storage: Designed to store massive amounts of unstructured data, such as images, videos, documents, and backups. Blobs can be accessed over HTTP or HTTPS.</a:t>
            </a:r>
            <a:endParaRPr/>
          </a:p>
          <a:p>
            <a:pPr indent="0" lvl="0" marL="0" rtl="0" algn="l">
              <a:spcBef>
                <a:spcPts val="1200"/>
              </a:spcBef>
              <a:spcAft>
                <a:spcPts val="0"/>
              </a:spcAft>
              <a:buClr>
                <a:schemeClr val="dk1"/>
              </a:buClr>
              <a:buSzPct val="61111"/>
              <a:buFont typeface="Arial"/>
              <a:buNone/>
            </a:pPr>
            <a:r>
              <a:rPr lang="en"/>
              <a:t>File Storage: Offers fully managed file shares that can be accessed using the Server Message Block (SMB) protocol. It is suitable for applications that require shared access to files.</a:t>
            </a:r>
            <a:endParaRPr/>
          </a:p>
          <a:p>
            <a:pPr indent="0" lvl="0" marL="0" rtl="0" algn="l">
              <a:spcBef>
                <a:spcPts val="1200"/>
              </a:spcBef>
              <a:spcAft>
                <a:spcPts val="0"/>
              </a:spcAft>
              <a:buClr>
                <a:schemeClr val="dk1"/>
              </a:buClr>
              <a:buSzPct val="61111"/>
              <a:buFont typeface="Arial"/>
              <a:buNone/>
            </a:pPr>
            <a:r>
              <a:rPr lang="en"/>
              <a:t>Table Storage: A NoSQL data store that allows you to store and retrieve data using a key/attribute store. It is well-suited for semi-structured data.</a:t>
            </a:r>
            <a:endParaRPr/>
          </a:p>
          <a:p>
            <a:pPr indent="0" lvl="0" marL="0" rtl="0" algn="l">
              <a:spcBef>
                <a:spcPts val="1200"/>
              </a:spcBef>
              <a:spcAft>
                <a:spcPts val="0"/>
              </a:spcAft>
              <a:buClr>
                <a:schemeClr val="dk1"/>
              </a:buClr>
              <a:buSzPct val="61111"/>
              <a:buFont typeface="Arial"/>
              <a:buNone/>
            </a:pPr>
            <a:r>
              <a:rPr lang="en"/>
              <a:t>Queue Storage: Provides a messaging solution for scalable and asynchronous communication between components of cloud services.</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TASK-02</a:t>
            </a:r>
            <a:endParaRPr/>
          </a:p>
        </p:txBody>
      </p:sp>
      <p:sp>
        <p:nvSpPr>
          <p:cNvPr id="131" name="Google Shape;131;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Replication: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Azure Storage Accounts support different replication options to ensure high availability and durability of data. These options include Locally Redundant Storage (LRS), Geo-Redundant Storage (GRS), Zone-Redundant Storage (ZRS), and Read-Access Geo-Redundant Storage (RA-GRS).</a:t>
            </a:r>
            <a:endParaRPr/>
          </a:p>
          <a:p>
            <a:pPr indent="0" lvl="0" marL="0" rtl="0" algn="l">
              <a:spcBef>
                <a:spcPts val="1200"/>
              </a:spcBef>
              <a:spcAft>
                <a:spcPts val="0"/>
              </a:spcAft>
              <a:buNone/>
            </a:pPr>
            <a:r>
              <a:rPr lang="en"/>
              <a:t>Access Control:</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Access to data stored in Azure Storage is controlled using Shared Access Signatures (SAS) and Azure Active Directory (Azure AD) credentials.</a:t>
            </a:r>
            <a:endParaRPr/>
          </a:p>
          <a:p>
            <a:pPr indent="0" lvl="0" marL="0" rtl="0" algn="l">
              <a:spcBef>
                <a:spcPts val="1200"/>
              </a:spcBef>
              <a:spcAft>
                <a:spcPts val="0"/>
              </a:spcAft>
              <a:buNone/>
            </a:pPr>
            <a:r>
              <a:rPr lang="en"/>
              <a:t>Storage Account keys provide full control over the account and should be kept secure. Shared Access Signatures allow more fine-grained control over access to resources.</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TASK-02</a:t>
            </a:r>
            <a:endParaRPr/>
          </a:p>
        </p:txBody>
      </p:sp>
      <p:sp>
        <p:nvSpPr>
          <p:cNvPr id="137" name="Google Shape;137;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Scalability: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Azure Storage is designed to scale dynamically to meet the demands of applications. As your storage needs grow, you can seamlessly scale up the capacity of your storage account.</a:t>
            </a:r>
            <a:endParaRPr/>
          </a:p>
          <a:p>
            <a:pPr indent="0" lvl="0" marL="0" rtl="0" algn="l">
              <a:spcBef>
                <a:spcPts val="1200"/>
              </a:spcBef>
              <a:spcAft>
                <a:spcPts val="0"/>
              </a:spcAft>
              <a:buNone/>
            </a:pPr>
            <a:r>
              <a:rPr lang="en"/>
              <a:t>Integration with Azure Services: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Azure Storage is integrated with various Azure services, making it a central data repository for cloud-based applications. For example, virtual machines can use blob storage for OS disks and data disks.</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TASK-03</a:t>
            </a:r>
            <a:endParaRPr/>
          </a:p>
        </p:txBody>
      </p:sp>
      <p:sp>
        <p:nvSpPr>
          <p:cNvPr id="143" name="Google Shape;143;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Task: Use terraform script to build a virtual machine with NSG, 1 OS disk and 1 data disk.</a:t>
            </a:r>
            <a:endParaRPr/>
          </a:p>
          <a:p>
            <a:pPr indent="0" lvl="0" marL="0" rtl="0" algn="l">
              <a:spcBef>
                <a:spcPts val="1200"/>
              </a:spcBef>
              <a:spcAft>
                <a:spcPts val="0"/>
              </a:spcAft>
              <a:buNone/>
            </a:pPr>
            <a:r>
              <a:rPr lang="en"/>
              <a:t>STEPS:</a:t>
            </a:r>
            <a:endParaRPr/>
          </a:p>
          <a:p>
            <a:pPr indent="0" lvl="0" marL="0" rtl="0" algn="l">
              <a:spcBef>
                <a:spcPts val="1200"/>
              </a:spcBef>
              <a:spcAft>
                <a:spcPts val="0"/>
              </a:spcAft>
              <a:buNone/>
            </a:pPr>
            <a:r>
              <a:rPr lang="en"/>
              <a:t>Install terraform </a:t>
            </a:r>
            <a:r>
              <a:rPr lang="en" u="sng">
                <a:solidFill>
                  <a:schemeClr val="hlink"/>
                </a:solidFill>
                <a:hlinkClick r:id="rId3"/>
              </a:rPr>
              <a:t>https://developer.hashicorp.com/terraform/tutorials/aws-get-started/install-cli</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TASK-03</a:t>
            </a:r>
            <a:endParaRPr/>
          </a:p>
        </p:txBody>
      </p:sp>
      <p:sp>
        <p:nvSpPr>
          <p:cNvPr id="149" name="Google Shape;149;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rgbClr val="0C343D"/>
                </a:solidFill>
                <a:latin typeface="Roboto Mono"/>
                <a:ea typeface="Roboto Mono"/>
                <a:cs typeface="Roboto Mono"/>
                <a:sym typeface="Roboto Mono"/>
              </a:rPr>
              <a:t>Automate infrastructure management</a:t>
            </a:r>
            <a:endParaRPr>
              <a:solidFill>
                <a:srgbClr val="0C343D"/>
              </a:solidFill>
              <a:latin typeface="Roboto Mono"/>
              <a:ea typeface="Roboto Mono"/>
              <a:cs typeface="Roboto Mono"/>
              <a:sym typeface="Roboto Mono"/>
            </a:endParaRPr>
          </a:p>
          <a:p>
            <a:pPr indent="0" lvl="0" marL="0" rtl="0" algn="l">
              <a:spcBef>
                <a:spcPts val="1200"/>
              </a:spcBef>
              <a:spcAft>
                <a:spcPts val="0"/>
              </a:spcAft>
              <a:buNone/>
            </a:pPr>
            <a:r>
              <a:rPr lang="en">
                <a:solidFill>
                  <a:srgbClr val="0C343D"/>
                </a:solidFill>
                <a:latin typeface="Roboto Mono"/>
                <a:ea typeface="Roboto Mono"/>
                <a:cs typeface="Roboto Mono"/>
                <a:sym typeface="Roboto Mono"/>
              </a:rPr>
              <a:t>The Terraform template-based configuration file syntax enables you to configure Azure resources in a repeatable and predictable manner. Automating infrastructure includes the following benefits:</a:t>
            </a:r>
            <a:endParaRPr>
              <a:solidFill>
                <a:srgbClr val="0C343D"/>
              </a:solidFill>
              <a:latin typeface="Roboto Mono"/>
              <a:ea typeface="Roboto Mono"/>
              <a:cs typeface="Roboto Mono"/>
              <a:sym typeface="Roboto Mono"/>
            </a:endParaRPr>
          </a:p>
          <a:p>
            <a:pPr indent="0" lvl="0" marL="0" rtl="0" algn="l">
              <a:spcBef>
                <a:spcPts val="1200"/>
              </a:spcBef>
              <a:spcAft>
                <a:spcPts val="0"/>
              </a:spcAft>
              <a:buNone/>
            </a:pPr>
            <a:r>
              <a:t/>
            </a:r>
            <a:endParaRPr>
              <a:solidFill>
                <a:srgbClr val="0C343D"/>
              </a:solidFill>
              <a:latin typeface="Roboto Mono"/>
              <a:ea typeface="Roboto Mono"/>
              <a:cs typeface="Roboto Mono"/>
              <a:sym typeface="Roboto Mono"/>
            </a:endParaRPr>
          </a:p>
          <a:p>
            <a:pPr indent="0" lvl="0" marL="0" rtl="0" algn="l">
              <a:spcBef>
                <a:spcPts val="1200"/>
              </a:spcBef>
              <a:spcAft>
                <a:spcPts val="0"/>
              </a:spcAft>
              <a:buNone/>
            </a:pPr>
            <a:r>
              <a:rPr lang="en">
                <a:solidFill>
                  <a:srgbClr val="0C343D"/>
                </a:solidFill>
                <a:latin typeface="Roboto Mono"/>
                <a:ea typeface="Roboto Mono"/>
                <a:cs typeface="Roboto Mono"/>
                <a:sym typeface="Roboto Mono"/>
              </a:rPr>
              <a:t>Lowers the potential for human errors while deploying and managing infrastructure.</a:t>
            </a:r>
            <a:endParaRPr>
              <a:solidFill>
                <a:srgbClr val="0C343D"/>
              </a:solidFill>
              <a:latin typeface="Roboto Mono"/>
              <a:ea typeface="Roboto Mono"/>
              <a:cs typeface="Roboto Mono"/>
              <a:sym typeface="Roboto Mono"/>
            </a:endParaRPr>
          </a:p>
          <a:p>
            <a:pPr indent="0" lvl="0" marL="0" rtl="0" algn="l">
              <a:spcBef>
                <a:spcPts val="1200"/>
              </a:spcBef>
              <a:spcAft>
                <a:spcPts val="0"/>
              </a:spcAft>
              <a:buNone/>
            </a:pPr>
            <a:r>
              <a:rPr lang="en">
                <a:solidFill>
                  <a:srgbClr val="0C343D"/>
                </a:solidFill>
                <a:latin typeface="Roboto Mono"/>
                <a:ea typeface="Roboto Mono"/>
                <a:cs typeface="Roboto Mono"/>
                <a:sym typeface="Roboto Mono"/>
              </a:rPr>
              <a:t>Deploys the same template multiple times to create identical development, test, and production environments.</a:t>
            </a:r>
            <a:endParaRPr>
              <a:solidFill>
                <a:srgbClr val="0C343D"/>
              </a:solidFill>
              <a:latin typeface="Roboto Mono"/>
              <a:ea typeface="Roboto Mono"/>
              <a:cs typeface="Roboto Mono"/>
              <a:sym typeface="Roboto Mono"/>
            </a:endParaRPr>
          </a:p>
          <a:p>
            <a:pPr indent="0" lvl="0" marL="0" rtl="0" algn="l">
              <a:spcBef>
                <a:spcPts val="1200"/>
              </a:spcBef>
              <a:spcAft>
                <a:spcPts val="1200"/>
              </a:spcAft>
              <a:buNone/>
            </a:pPr>
            <a:r>
              <a:rPr lang="en">
                <a:solidFill>
                  <a:srgbClr val="0C343D"/>
                </a:solidFill>
                <a:latin typeface="Roboto Mono"/>
                <a:ea typeface="Roboto Mono"/>
                <a:cs typeface="Roboto Mono"/>
                <a:sym typeface="Roboto Mono"/>
              </a:rPr>
              <a:t>Reduces the cost of development and test environments by creating them on-demand.</a:t>
            </a:r>
            <a:endParaRPr>
              <a:solidFill>
                <a:srgbClr val="0C343D"/>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TASK-03</a:t>
            </a:r>
            <a:endParaRPr/>
          </a:p>
        </p:txBody>
      </p:sp>
      <p:sp>
        <p:nvSpPr>
          <p:cNvPr id="155" name="Google Shape;155;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What is Terraform?</a:t>
            </a:r>
            <a:endParaRPr/>
          </a:p>
          <a:p>
            <a:pPr indent="0" lvl="0" marL="0" rtl="0" algn="l">
              <a:spcBef>
                <a:spcPts val="1200"/>
              </a:spcBef>
              <a:spcAft>
                <a:spcPts val="0"/>
              </a:spcAft>
              <a:buNone/>
            </a:pPr>
            <a:r>
              <a:rPr lang="en"/>
              <a:t>	Open-source infrastructure as Code </a:t>
            </a:r>
            <a:endParaRPr/>
          </a:p>
          <a:p>
            <a:pPr indent="0" lvl="0" marL="0" rtl="0" algn="l">
              <a:spcBef>
                <a:spcPts val="1200"/>
              </a:spcBef>
              <a:spcAft>
                <a:spcPts val="0"/>
              </a:spcAft>
              <a:buNone/>
            </a:pPr>
            <a:r>
              <a:rPr lang="en"/>
              <a:t>	Developed by HashiCorp. </a:t>
            </a:r>
            <a:endParaRPr/>
          </a:p>
          <a:p>
            <a:pPr indent="0" lvl="0" marL="0" rtl="0" algn="l">
              <a:spcBef>
                <a:spcPts val="1200"/>
              </a:spcBef>
              <a:spcAft>
                <a:spcPts val="0"/>
              </a:spcAft>
              <a:buNone/>
            </a:pPr>
            <a:r>
              <a:rPr lang="en"/>
              <a:t>	Used to define and provision the complete infrastructure </a:t>
            </a:r>
            <a:endParaRPr/>
          </a:p>
          <a:p>
            <a:pPr indent="0" lvl="0" marL="0" rtl="0" algn="l">
              <a:spcBef>
                <a:spcPts val="1200"/>
              </a:spcBef>
              <a:spcAft>
                <a:spcPts val="0"/>
              </a:spcAft>
              <a:buNone/>
            </a:pPr>
            <a:r>
              <a:rPr lang="en"/>
              <a:t>	Declarative language.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	Infrastructure provisioning tool </a:t>
            </a:r>
            <a:endParaRPr/>
          </a:p>
          <a:p>
            <a:pPr indent="0" lvl="0" marL="0" rtl="0" algn="l">
              <a:spcBef>
                <a:spcPts val="1200"/>
              </a:spcBef>
              <a:spcAft>
                <a:spcPts val="0"/>
              </a:spcAft>
              <a:buNone/>
            </a:pPr>
            <a:r>
              <a:rPr lang="en"/>
              <a:t>	Cloud infrastructure setup as codes. </a:t>
            </a:r>
            <a:endParaRPr/>
          </a:p>
          <a:p>
            <a:pPr indent="0" lvl="0" marL="0" rtl="0" algn="l">
              <a:spcBef>
                <a:spcPts val="1200"/>
              </a:spcBef>
              <a:spcAft>
                <a:spcPts val="0"/>
              </a:spcAft>
              <a:buNone/>
            </a:pPr>
            <a:r>
              <a:rPr lang="en"/>
              <a:t>	Similar to tools like CloudFormation</a:t>
            </a:r>
            <a:endParaRPr/>
          </a:p>
          <a:p>
            <a:pPr indent="0" lvl="0" marL="0" rtl="0" algn="l">
              <a:spcBef>
                <a:spcPts val="1200"/>
              </a:spcBef>
              <a:spcAft>
                <a:spcPts val="0"/>
              </a:spcAft>
              <a:buNone/>
            </a:pPr>
            <a:r>
              <a:rPr lang="en"/>
              <a:t>		However provider independent.</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TASK-03</a:t>
            </a:r>
            <a:endParaRPr/>
          </a:p>
        </p:txBody>
      </p:sp>
      <p:sp>
        <p:nvSpPr>
          <p:cNvPr id="161" name="Google Shape;161;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core Terraform workflow has three steps:</a:t>
            </a:r>
            <a:endParaRPr/>
          </a:p>
          <a:p>
            <a:pPr indent="0" lvl="0" marL="0" rtl="0" algn="l">
              <a:spcBef>
                <a:spcPts val="1200"/>
              </a:spcBef>
              <a:spcAft>
                <a:spcPts val="0"/>
              </a:spcAft>
              <a:buNone/>
            </a:pPr>
            <a:r>
              <a:rPr lang="en"/>
              <a:t>    Write - Author infrastructure as code.</a:t>
            </a:r>
            <a:endParaRPr/>
          </a:p>
          <a:p>
            <a:pPr indent="0" lvl="0" marL="0" rtl="0" algn="l">
              <a:spcBef>
                <a:spcPts val="1200"/>
              </a:spcBef>
              <a:spcAft>
                <a:spcPts val="0"/>
              </a:spcAft>
              <a:buNone/>
            </a:pPr>
            <a:r>
              <a:rPr lang="en"/>
              <a:t>    Plan - Preview changes before applying.</a:t>
            </a:r>
            <a:endParaRPr/>
          </a:p>
          <a:p>
            <a:pPr indent="0" lvl="0" marL="0" rtl="0" algn="l">
              <a:spcBef>
                <a:spcPts val="1200"/>
              </a:spcBef>
              <a:spcAft>
                <a:spcPts val="0"/>
              </a:spcAft>
              <a:buNone/>
            </a:pPr>
            <a:r>
              <a:rPr lang="en"/>
              <a:t>    Apply - Provision reproducible infrastructure.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idx="4294967295"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TASK-03</a:t>
            </a:r>
            <a:endParaRPr/>
          </a:p>
        </p:txBody>
      </p:sp>
      <p:sp>
        <p:nvSpPr>
          <p:cNvPr id="167" name="Google Shape;167;p26"/>
          <p:cNvSpPr txBox="1"/>
          <p:nvPr/>
        </p:nvSpPr>
        <p:spPr>
          <a:xfrm>
            <a:off x="345100" y="1017800"/>
            <a:ext cx="8487300" cy="38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init</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Initialize a working directory</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First command in workflow</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Downloads plugins specific to the provider</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validate</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Verifies the syntax consistency of the configuration.</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plan</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Creates execution plan</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Performs a refresh and determines what action to performance</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Compare .tfstate to current state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compare your changes with current state and above state</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create the plan (order of execution)</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display all the delta to us.</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apply</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Again executes the plan (unless we have persisted)</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CRUD of infrastructure</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destroy</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Destroy infrastructure.</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nvSpPr>
        <p:spPr>
          <a:xfrm>
            <a:off x="134325" y="476250"/>
            <a:ext cx="8865600" cy="45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Also for today’s task i have created one </a:t>
            </a:r>
            <a:r>
              <a:rPr lang="en" sz="1800">
                <a:solidFill>
                  <a:schemeClr val="dk2"/>
                </a:solidFill>
                <a:latin typeface="Roboto"/>
                <a:ea typeface="Roboto"/>
                <a:cs typeface="Roboto"/>
                <a:sym typeface="Roboto"/>
              </a:rPr>
              <a:t>separate</a:t>
            </a:r>
            <a:r>
              <a:rPr lang="en" sz="1800">
                <a:solidFill>
                  <a:schemeClr val="dk2"/>
                </a:solidFill>
                <a:latin typeface="Roboto"/>
                <a:ea typeface="Roboto"/>
                <a:cs typeface="Roboto"/>
                <a:sym typeface="Roboto"/>
              </a:rPr>
              <a:t> terraform directory in my ubuntu vm.</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Installed terraform in my machine and have created needed files like main.tf ,variable.tf and output.tf for my task</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And have applied terraform init ,terraform validate,plan and apply.</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And after all those steps my virtual machine have created in my azure portal using terraform successfully.</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8"/>
          <p:cNvPicPr preferRelativeResize="0"/>
          <p:nvPr/>
        </p:nvPicPr>
        <p:blipFill>
          <a:blip r:embed="rId3">
            <a:alphaModFix/>
          </a:blip>
          <a:stretch>
            <a:fillRect/>
          </a:stretch>
        </p:blipFill>
        <p:spPr>
          <a:xfrm>
            <a:off x="152400" y="152400"/>
            <a:ext cx="8468950" cy="4465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152400" y="152400"/>
            <a:ext cx="8823075" cy="4567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0"/>
          <p:cNvPicPr preferRelativeResize="0"/>
          <p:nvPr/>
        </p:nvPicPr>
        <p:blipFill>
          <a:blip r:embed="rId3">
            <a:alphaModFix/>
          </a:blip>
          <a:stretch>
            <a:fillRect/>
          </a:stretch>
        </p:blipFill>
        <p:spPr>
          <a:xfrm>
            <a:off x="425300" y="635000"/>
            <a:ext cx="82934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46B64217551C4BB4EC422E39515BBE" ma:contentTypeVersion="37" ma:contentTypeDescription="Create a new document." ma:contentTypeScope="" ma:versionID="849bd558788d11712b11b9ec8e0575d1">
  <xsd:schema xmlns:xsd="http://www.w3.org/2001/XMLSchema" xmlns:xs="http://www.w3.org/2001/XMLSchema" xmlns:p="http://schemas.microsoft.com/office/2006/metadata/properties" xmlns:ns1="http://schemas.microsoft.com/sharepoint/v3" xmlns:ns2="3ce4bf38-5deb-4e42-8fd3-e8d1149048e3" xmlns:ns3="7b05ee4c-8ea8-4dc9-9bc6-ed54900b96ef" xmlns:ns4="c4b2c68f-b55b-444b-8812-a8bfd78cf6e5" targetNamespace="http://schemas.microsoft.com/office/2006/metadata/properties" ma:root="true" ma:fieldsID="e7fae0ad559c9e755a56b750400b5479" ns1:_="" ns2:_="" ns3:_="" ns4:_="">
    <xsd:import namespace="http://schemas.microsoft.com/sharepoint/v3"/>
    <xsd:import namespace="3ce4bf38-5deb-4e42-8fd3-e8d1149048e3"/>
    <xsd:import namespace="7b05ee4c-8ea8-4dc9-9bc6-ed54900b96ef"/>
    <xsd:import namespace="c4b2c68f-b55b-444b-8812-a8bfd78cf6e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MediaServiceAutoKeyPoints" minOccurs="0"/>
                <xsd:element ref="ns2:MediaServiceKeyPoints"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MediaServiceBillingMetadata" minOccurs="0"/>
                <xsd:element ref="ns2:Referfo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e4bf38-5deb-4e42-8fd3-e8d1149048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423d344c-9e5d-4dd2-9612-f746068d8c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element name="Referfor" ma:index="29" nillable="true" ma:displayName="Refer for" ma:format="Dropdown" ma:internalName="Referfor">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b05ee4c-8ea8-4dc9-9bc6-ed54900b96e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4b2c68f-b55b-444b-8812-a8bfd78cf6e5"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1a807e3-1546-4d71-bed7-b4c9d0869cd6}" ma:internalName="TaxCatchAll" ma:showField="CatchAllData" ma:web="7b05ee4c-8ea8-4dc9-9bc6-ed54900b96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4b2c68f-b55b-444b-8812-a8bfd78cf6e5" xsi:nil="true"/>
    <_ip_UnifiedCompliancePolicyUIAction xmlns="http://schemas.microsoft.com/sharepoint/v3" xsi:nil="true"/>
    <Referfor xmlns="3ce4bf38-5deb-4e42-8fd3-e8d1149048e3" xsi:nil="true"/>
    <_ip_UnifiedCompliancePolicyProperties xmlns="http://schemas.microsoft.com/sharepoint/v3" xsi:nil="true"/>
    <lcf76f155ced4ddcb4097134ff3c332f xmlns="3ce4bf38-5deb-4e42-8fd3-e8d1149048e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415103-668E-4CB7-A826-A4116003BE6D}"/>
</file>

<file path=customXml/itemProps2.xml><?xml version="1.0" encoding="utf-8"?>
<ds:datastoreItem xmlns:ds="http://schemas.openxmlformats.org/officeDocument/2006/customXml" ds:itemID="{95BEF015-A0C7-4C06-8078-9B5151C78949}"/>
</file>

<file path=customXml/itemProps3.xml><?xml version="1.0" encoding="utf-8"?>
<ds:datastoreItem xmlns:ds="http://schemas.openxmlformats.org/officeDocument/2006/customXml" ds:itemID="{BEF7E05D-306C-407C-9AA4-7401D7F6B46F}"/>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0x0101001F46B64217551C4BB4EC422E39515BBE</vt:lpwstr>
  </property>
</Properties>
</file>